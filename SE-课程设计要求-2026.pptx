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7" r:id="rId13"/>
    <p:sldId id="259" r:id="rId14"/>
    <p:sldId id="270" r:id="rId16"/>
    <p:sldId id="272" r:id="rId17"/>
    <p:sldId id="273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64" y="-7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页眉占位符 2662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strike="noStrike" noProof="1" dirty="0"/>
          </a:p>
        </p:txBody>
      </p:sp>
      <p:sp>
        <p:nvSpPr>
          <p:cNvPr id="26627" name="日期占位符 26626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strike="noStrike" noProof="1" dirty="0"/>
          </a:p>
        </p:txBody>
      </p:sp>
      <p:sp>
        <p:nvSpPr>
          <p:cNvPr id="3076" name="幻灯片图像占位符 26627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26628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630" name="页脚占位符 2662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altLang="en-US" sz="1200" strike="noStrike" noProof="1" dirty="0"/>
          </a:p>
        </p:txBody>
      </p:sp>
      <p:sp>
        <p:nvSpPr>
          <p:cNvPr id="26631" name="灯片编号占位符 26630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536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ja-JP" altLang="en-US" sz="1200" dirty="0">
                <a:ea typeface="MS PGothic" panose="020B0600070205080204" pitchFamily="34" charset="-128"/>
              </a:rPr>
            </a:fld>
            <a:endParaRPr lang="ja-JP" altLang="en-US" sz="1200" dirty="0">
              <a:ea typeface="MS PGothic" panose="020B0600070205080204" pitchFamily="34" charset="-128"/>
            </a:endParaRPr>
          </a:p>
        </p:txBody>
      </p:sp>
      <p:sp>
        <p:nvSpPr>
          <p:cNvPr id="153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 lvl="0"/>
            <a:endParaRPr lang="ja-JP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7410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ja-JP" altLang="en-US" sz="1200" dirty="0">
                <a:ea typeface="MS PGothic" panose="020B0600070205080204" pitchFamily="34" charset="-128"/>
              </a:rPr>
            </a:fld>
            <a:endParaRPr lang="ja-JP" altLang="en-US" sz="1200" dirty="0">
              <a:ea typeface="MS PGothic" panose="020B0600070205080204" pitchFamily="34" charset="-128"/>
            </a:endParaRPr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 lvl="0"/>
            <a:endParaRPr lang="ja-JP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7410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ja-JP" altLang="en-US" sz="1200" dirty="0">
                <a:ea typeface="MS PGothic" panose="020B0600070205080204" pitchFamily="34" charset="-128"/>
              </a:rPr>
            </a:fld>
            <a:endParaRPr lang="ja-JP" altLang="en-US" sz="1200" dirty="0">
              <a:ea typeface="MS PGothic" panose="020B0600070205080204" pitchFamily="34" charset="-128"/>
            </a:endParaRPr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 lvl="0"/>
            <a:endParaRPr lang="ja-JP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7410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ja-JP" altLang="en-US" sz="1200" dirty="0">
                <a:ea typeface="MS PGothic" panose="020B0600070205080204" pitchFamily="34" charset="-128"/>
              </a:rPr>
            </a:fld>
            <a:endParaRPr lang="ja-JP" altLang="en-US" sz="1200" dirty="0">
              <a:ea typeface="MS PGothic" panose="020B0600070205080204" pitchFamily="34" charset="-128"/>
            </a:endParaRPr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 lvl="0"/>
            <a:endParaRPr lang="ja-JP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7826" name="标题 77825"/>
          <p:cNvSpPr>
            <a:spLocks noGrp="1" noRot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7827" name="副标题 77826"/>
          <p:cNvSpPr>
            <a:spLocks noGrp="1" noRot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hlink"/>
              </a:buClr>
              <a:buSzPct val="8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hlink"/>
              </a:buClr>
              <a:buSzPct val="85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77828" name="日期占位符 77827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400"/>
            </a:lvl1pPr>
          </a:lstStyle>
          <a:p>
            <a:pPr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7829" name="页脚占位符 778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400"/>
            </a:lvl1pPr>
          </a:lstStyle>
          <a:p>
            <a:pPr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7830" name="灯片编号占位符 778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4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84968" cy="41941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7408" y="1905000"/>
            <a:ext cx="4184968" cy="41941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8" cy="548957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81784" cy="54895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7826" name="标题 77825"/>
          <p:cNvSpPr>
            <a:spLocks noGrp="1" noRot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7827" name="副标题 77826"/>
          <p:cNvSpPr>
            <a:spLocks noGrp="1" noRot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hlink"/>
              </a:buClr>
              <a:buSzPct val="8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hlink"/>
              </a:buClr>
              <a:buSzPct val="85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77828" name="日期占位符 77827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400"/>
            </a:lvl1pPr>
          </a:lstStyle>
          <a:p>
            <a:pPr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7829" name="页脚占位符 778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400"/>
            </a:lvl1pPr>
          </a:lstStyle>
          <a:p>
            <a:pPr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7830" name="灯片编号占位符 778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4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84968" cy="41941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7408" y="1905000"/>
            <a:ext cx="4184968" cy="41941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8" cy="548957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81784" cy="54895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76801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76802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6804" name="日期占位符 76803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6805" name="页脚占位符 7680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6806" name="灯片编号占位符 7680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76801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76802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6804" name="日期占位符 76803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6805" name="页脚占位符 7680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6806" name="灯片编号占位符 7680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mailto:liyi_ws@sc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81000" y="857232"/>
            <a:ext cx="8458200" cy="1071568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软件工程课程设计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8" name="副标题 2"/>
          <p:cNvSpPr>
            <a:spLocks noGrp="1" noRot="1"/>
          </p:cNvSpPr>
          <p:nvPr>
            <p:ph type="subTitle" idx="4294967295"/>
          </p:nvPr>
        </p:nvSpPr>
        <p:spPr>
          <a:xfrm>
            <a:off x="376238" y="3841750"/>
            <a:ext cx="8316912" cy="1071563"/>
          </a:xfrm>
        </p:spPr>
        <p:txBody>
          <a:bodyPr vert="horz" wrap="square" lIns="91440" tIns="45720" rIns="91440" bIns="45720" anchor="b" anchorCtr="0"/>
          <a:lstStyle>
            <a:lvl1pPr marL="0" lvl="0" indent="0" algn="ctr">
              <a:buClr>
                <a:schemeClr val="hlink"/>
              </a:buClr>
              <a:buSzPct val="75000"/>
              <a:buFont typeface="Wingdings" panose="05000000000000000000" pitchFamily="2" charset="2"/>
              <a:defRPr/>
            </a:lvl1pPr>
            <a:lvl2pPr marL="457200" lvl="1" indent="0" algn="ctr">
              <a:buClr>
                <a:schemeClr val="accent2"/>
              </a:buClr>
              <a:buSzPct val="85000"/>
              <a:buFont typeface="Wingdings" panose="05000000000000000000" pitchFamily="2" charset="2"/>
              <a:defRPr/>
            </a:lvl2pPr>
            <a:lvl3pPr marL="914400" lvl="2" indent="0" algn="ctr">
              <a:buClr>
                <a:schemeClr val="hlink"/>
              </a:buClr>
              <a:buSzPct val="85000"/>
              <a:buFont typeface="Wingdings" panose="05000000000000000000" pitchFamily="2" charset="2"/>
              <a:defRPr/>
            </a:lvl3pPr>
            <a:lvl4pPr marL="1371600" lvl="3" indent="0" algn="ctr">
              <a:buClr>
                <a:schemeClr val="accent2"/>
              </a:buClr>
              <a:buSzPct val="90000"/>
              <a:buFont typeface="Wingdings" panose="05000000000000000000" pitchFamily="2" charset="2"/>
              <a:defRPr/>
            </a:lvl4pPr>
            <a:lvl5pPr marL="1828800" lvl="4" indent="0" algn="ctr">
              <a:buClr>
                <a:schemeClr val="hlink"/>
              </a:buClr>
              <a:buSzPct val="85000"/>
              <a:buFont typeface="Wingdings" panose="05000000000000000000" pitchFamily="2" charset="2"/>
              <a:defRPr/>
            </a:lvl5pPr>
          </a:lstStyle>
          <a:p>
            <a:pPr marL="0" lvl="0" indent="0" algn="l" defTabSz="914400">
              <a:lnSpc>
                <a:spcPct val="90000"/>
              </a:lnSpc>
              <a:buNone/>
            </a:pPr>
            <a:r>
              <a:rPr lang="zh-CN" altLang="en-US" sz="2200" dirty="0">
                <a:solidFill>
                  <a:srgbClr val="443329"/>
                </a:solidFill>
              </a:rPr>
              <a:t>李毅</a:t>
            </a:r>
            <a:endParaRPr lang="zh-CN" altLang="en-US" sz="2200">
              <a:solidFill>
                <a:srgbClr val="443329"/>
              </a:solidFill>
            </a:endParaRPr>
          </a:p>
          <a:p>
            <a:pPr marL="0" lvl="0" indent="0" algn="l" defTabSz="914400">
              <a:lnSpc>
                <a:spcPct val="90000"/>
              </a:lnSpc>
              <a:buNone/>
            </a:pPr>
            <a:r>
              <a:rPr lang="en-US" altLang="zh-CN" sz="2200">
                <a:solidFill>
                  <a:srgbClr val="443329"/>
                </a:solidFill>
              </a:rPr>
              <a:t>Email</a:t>
            </a:r>
            <a:r>
              <a:rPr lang="zh-CN" altLang="en-US" sz="2200" dirty="0">
                <a:solidFill>
                  <a:srgbClr val="443329"/>
                </a:solidFill>
              </a:rPr>
              <a:t>：</a:t>
            </a:r>
            <a:r>
              <a:rPr lang="en-US" altLang="zh-CN" sz="2200" err="1">
                <a:solidFill>
                  <a:srgbClr val="443329"/>
                </a:solidFill>
                <a:hlinkClick r:id="rId1"/>
              </a:rPr>
              <a:t>liyi_ws@scu.edu.cn</a:t>
            </a:r>
            <a:endParaRPr lang="en-US" altLang="zh-CN" sz="2200">
              <a:solidFill>
                <a:srgbClr val="443329"/>
              </a:solidFill>
            </a:endParaRPr>
          </a:p>
          <a:p>
            <a:pPr marL="0" lvl="0" indent="0" algn="l" defTabSz="914400">
              <a:lnSpc>
                <a:spcPct val="90000"/>
              </a:lnSpc>
              <a:buNone/>
            </a:pPr>
            <a:r>
              <a:rPr lang="en-US" altLang="zh-CN" sz="2200">
                <a:solidFill>
                  <a:srgbClr val="443329"/>
                </a:solidFill>
              </a:rPr>
              <a:t>Mobile: 18011536477  13808068528</a:t>
            </a:r>
            <a:endParaRPr lang="en-US" altLang="zh-CN" sz="2200">
              <a:solidFill>
                <a:srgbClr val="44332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课程目的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2" name="内容占位符 2"/>
          <p:cNvSpPr>
            <a:spLocks noGrp="1" noRot="1"/>
          </p:cNvSpPr>
          <p:nvPr>
            <p:ph idx="4294967295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/>
              <a:t>   </a:t>
            </a:r>
            <a:r>
              <a:rPr lang="zh-CN" altLang="en-US" dirty="0"/>
              <a:t>软件工程是（</a:t>
            </a:r>
            <a:r>
              <a:rPr lang="en-US" altLang="zh-CN"/>
              <a:t>1</a:t>
            </a:r>
            <a:r>
              <a:rPr lang="zh-CN" altLang="en-US" dirty="0"/>
              <a:t>）将规范化、系统化和可度量的方法应用于软件的开发、运行和维护中，（</a:t>
            </a:r>
            <a:r>
              <a:rPr lang="en-US" altLang="zh-CN"/>
              <a:t>2</a:t>
            </a:r>
            <a:r>
              <a:rPr lang="zh-CN" altLang="en-US" dirty="0"/>
              <a:t>）上述方法的研究。</a:t>
            </a:r>
            <a:endParaRPr lang="zh-CN" altLang="en-US"/>
          </a:p>
          <a:p>
            <a:pPr>
              <a:buNone/>
            </a:pPr>
            <a:r>
              <a:rPr lang="zh-CN" altLang="en-US" dirty="0"/>
              <a:t>    软件工程课程设计是将软件工程过程、技术和方法应用于软件开发实践中，增强对软件工程的认识。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    强调开发过程和文档的重要性！！！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课程教学方式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6" name="内容占位符 2"/>
          <p:cNvSpPr>
            <a:spLocks noGrp="1" noRot="1"/>
          </p:cNvSpPr>
          <p:nvPr>
            <p:ph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软件工程过程、技术和方法的讲解</a:t>
            </a:r>
            <a:endParaRPr lang="zh-CN" altLang="en-US"/>
          </a:p>
          <a:p>
            <a:r>
              <a:rPr lang="zh-CN" altLang="en-US" dirty="0"/>
              <a:t> 按照团队或个人确定课程设计题目，确定软件工程过程，完成一系列软件工程动作或互动</a:t>
            </a:r>
            <a:endParaRPr lang="zh-CN" altLang="en-US"/>
          </a:p>
          <a:p>
            <a:r>
              <a:rPr lang="zh-CN" altLang="en-US" dirty="0"/>
              <a:t>强调课程的交互性，鼓励同学作课堂陈述</a:t>
            </a:r>
            <a:endParaRPr lang="zh-CN" altLang="en-US"/>
          </a:p>
          <a:p>
            <a:r>
              <a:rPr lang="zh-CN" altLang="en-US" dirty="0"/>
              <a:t>项目自拟，或采用老师提供的软件工程课程设计题目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课程设计要求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0" name="内容占位符 2"/>
          <p:cNvSpPr>
            <a:spLocks noGrp="1" noRot="1"/>
          </p:cNvSpPr>
          <p:nvPr>
            <p:ph idx="4294967295"/>
          </p:nvPr>
        </p:nvSpPr>
        <p:spPr>
          <a:xfrm>
            <a:off x="301625" y="1402080"/>
            <a:ext cx="8540750" cy="4697095"/>
          </a:xfrm>
        </p:spPr>
        <p:txBody>
          <a:bodyPr vert="horz" wrap="square" lIns="91440" tIns="45720" rIns="91440" bIns="45720" anchor="t" anchorCtr="0"/>
          <a:p>
            <a:r>
              <a:rPr lang="zh-CN" altLang="en-US" b="1" dirty="0"/>
              <a:t>团队组织：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组织课程设计小组，小组成员原则上</a:t>
            </a:r>
            <a:r>
              <a:rPr lang="en-US" altLang="zh-CN"/>
              <a:t>2 ~ 3</a:t>
            </a:r>
            <a:r>
              <a:rPr lang="zh-CN" altLang="en-US" dirty="0"/>
              <a:t>人。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最多不超过</a:t>
            </a:r>
            <a:r>
              <a:rPr lang="en-US" altLang="zh-CN" dirty="0"/>
              <a:t>4</a:t>
            </a:r>
            <a:r>
              <a:rPr lang="zh-CN" altLang="en-US" dirty="0"/>
              <a:t>人！</a:t>
            </a:r>
            <a:endParaRPr lang="zh-CN" altLang="en-US" dirty="0"/>
          </a:p>
          <a:p>
            <a:r>
              <a:rPr lang="zh-CN" altLang="en-US" b="1" dirty="0"/>
              <a:t>选题：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在教师指定的课题中选择，也可自选项目。自选项目需现提供一个简要功能说明文档告，并提交教师确认。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en-US" dirty="0"/>
              <a:t>项目的规模应该在（人数</a:t>
            </a:r>
            <a:r>
              <a:rPr lang="en-US" altLang="zh-CN"/>
              <a:t>*1</a:t>
            </a:r>
            <a:r>
              <a:rPr lang="zh-CN" altLang="en-US" dirty="0"/>
              <a:t>人月）完成量，系统功能数为（人数</a:t>
            </a:r>
            <a:r>
              <a:rPr lang="en-US" altLang="zh-CN"/>
              <a:t>*6</a:t>
            </a:r>
            <a:r>
              <a:rPr lang="zh-CN" altLang="en-US" dirty="0"/>
              <a:t>个功能）。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课程设计要求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4" name="内容占位符 2"/>
          <p:cNvSpPr>
            <a:spLocks noGrp="1" noRot="1"/>
          </p:cNvSpPr>
          <p:nvPr>
            <p:ph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3000" b="1" dirty="0"/>
              <a:t>项目启动：</a:t>
            </a:r>
            <a:endParaRPr lang="zh-CN" altLang="en-US" sz="3000" dirty="0"/>
          </a:p>
          <a:p>
            <a:pPr>
              <a:buNone/>
            </a:pPr>
            <a:r>
              <a:rPr lang="zh-CN" altLang="en-US" sz="3000" dirty="0"/>
              <a:t>    按照软件工程的标准编写“软件开发计划”，明确项目开发任务、分工和完成计划。</a:t>
            </a:r>
            <a:endParaRPr lang="zh-CN" altLang="en-US" sz="3000" dirty="0"/>
          </a:p>
          <a:p>
            <a:r>
              <a:rPr lang="zh-CN" altLang="en-US" sz="3000" b="1" dirty="0"/>
              <a:t>需求分析：</a:t>
            </a:r>
            <a:endParaRPr lang="zh-CN" altLang="en-US" sz="3000" dirty="0"/>
          </a:p>
          <a:p>
            <a:pPr>
              <a:buNone/>
            </a:pPr>
            <a:r>
              <a:rPr lang="zh-CN" altLang="en-US" sz="3000" dirty="0"/>
              <a:t>   对系统和软件进行需求调研和分析，按照软件工程的标准编写“软件需求文档”（包括</a:t>
            </a:r>
            <a:r>
              <a:rPr lang="en-US" altLang="zh-CN" sz="3000"/>
              <a:t>UML</a:t>
            </a:r>
            <a:r>
              <a:rPr lang="zh-CN" altLang="en-US" sz="3000" dirty="0"/>
              <a:t>分析模型），进行课堂报告</a:t>
            </a:r>
            <a:r>
              <a:rPr lang="en-US" altLang="zh-CN" sz="3000"/>
              <a:t>(</a:t>
            </a:r>
            <a:r>
              <a:rPr lang="zh-CN" altLang="en-US" sz="3000" dirty="0"/>
              <a:t>要求完成</a:t>
            </a:r>
            <a:r>
              <a:rPr lang="en-US" altLang="zh-CN" sz="3000"/>
              <a:t>5</a:t>
            </a:r>
            <a:r>
              <a:rPr lang="zh-CN" altLang="en-US" sz="3000" dirty="0"/>
              <a:t>分钟的</a:t>
            </a:r>
            <a:r>
              <a:rPr lang="en-US" altLang="zh-CN" sz="3000"/>
              <a:t>PPT</a:t>
            </a:r>
            <a:r>
              <a:rPr lang="zh-CN" altLang="en-US" sz="3000" dirty="0"/>
              <a:t>）。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课程设计要求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8" name="内容占位符 2"/>
          <p:cNvSpPr>
            <a:spLocks noGrp="1" noRot="1"/>
          </p:cNvSpPr>
          <p:nvPr>
            <p:ph idx="4294967295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2700" b="1" dirty="0"/>
              <a:t>概要和详细设计：</a:t>
            </a:r>
            <a:r>
              <a:rPr lang="en-US" altLang="zh-CN" sz="2700" b="1"/>
              <a:t> </a:t>
            </a:r>
            <a:endParaRPr lang="zh-CN" altLang="en-US" sz="2700" dirty="0"/>
          </a:p>
          <a:p>
            <a:pPr>
              <a:lnSpc>
                <a:spcPct val="90000"/>
              </a:lnSpc>
              <a:buNone/>
            </a:pPr>
            <a:r>
              <a:rPr lang="zh-CN" altLang="en-US" sz="2700" dirty="0"/>
              <a:t>   进行系统及软件的设计，按照软件工程的标准编写相应的“软件设计文档”（包括</a:t>
            </a:r>
            <a:r>
              <a:rPr lang="en-US" altLang="zh-CN" sz="2700"/>
              <a:t>UML</a:t>
            </a:r>
            <a:r>
              <a:rPr lang="zh-CN" altLang="en-US" sz="2700" dirty="0"/>
              <a:t>设计模型）。设计完成后，进行课堂报告，要求完成</a:t>
            </a:r>
            <a:r>
              <a:rPr lang="en-US" altLang="zh-CN" sz="2700"/>
              <a:t>5-10</a:t>
            </a:r>
            <a:r>
              <a:rPr lang="zh-CN" altLang="en-US" sz="2700" dirty="0"/>
              <a:t>分钟的ＰＰＴ。</a:t>
            </a:r>
            <a:endParaRPr lang="zh-CN" altLang="en-US" sz="2700" dirty="0"/>
          </a:p>
          <a:p>
            <a:pPr>
              <a:lnSpc>
                <a:spcPct val="90000"/>
              </a:lnSpc>
            </a:pPr>
            <a:r>
              <a:rPr lang="zh-CN" altLang="en-US" sz="2700" b="1" dirty="0"/>
              <a:t>软件实现：</a:t>
            </a:r>
            <a:endParaRPr lang="zh-CN" altLang="en-US" sz="2700" dirty="0"/>
          </a:p>
          <a:p>
            <a:pPr>
              <a:lnSpc>
                <a:spcPct val="90000"/>
              </a:lnSpc>
              <a:buNone/>
            </a:pPr>
            <a:r>
              <a:rPr lang="zh-CN" altLang="en-US" sz="2700" dirty="0"/>
              <a:t>    软件编码，进行代码检查和单元测试，完成软件的集成、构造，生成可安装、运行软件（文件），并按照软件工程的标准编写“用户手册</a:t>
            </a:r>
            <a:r>
              <a:rPr lang="en-US" altLang="zh-CN" sz="2700"/>
              <a:t>/</a:t>
            </a:r>
            <a:r>
              <a:rPr lang="zh-CN" altLang="en-US" sz="2700" dirty="0"/>
              <a:t>系统使用说明”。</a:t>
            </a:r>
            <a:endParaRPr lang="zh-CN" altLang="en-US" sz="2700" dirty="0"/>
          </a:p>
          <a:p>
            <a:pPr>
              <a:lnSpc>
                <a:spcPct val="90000"/>
              </a:lnSpc>
            </a:pPr>
            <a:endParaRPr lang="zh-CN" alt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课程设计要求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2" name="内容占位符 2"/>
          <p:cNvSpPr>
            <a:spLocks noGrp="1" noRot="1"/>
          </p:cNvSpPr>
          <p:nvPr>
            <p:ph idx="4294967295"/>
          </p:nvPr>
        </p:nvSpPr>
        <p:spPr>
          <a:xfrm>
            <a:off x="301625" y="1295400"/>
            <a:ext cx="8540750" cy="4803775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zh-CN" altLang="en-US" sz="2700" b="1" dirty="0"/>
              <a:t>软件测试：</a:t>
            </a:r>
            <a:endParaRPr lang="zh-CN" altLang="en-US" sz="2700" dirty="0"/>
          </a:p>
          <a:p>
            <a:pPr>
              <a:lnSpc>
                <a:spcPct val="80000"/>
              </a:lnSpc>
              <a:buNone/>
            </a:pPr>
            <a:r>
              <a:rPr lang="zh-CN" altLang="en-US" sz="2700" dirty="0"/>
              <a:t>    进行系统软件测试，按照软件工程的标准编写相应的“软件测试文档”，包括“测试计划和测试用例”。</a:t>
            </a:r>
            <a:endParaRPr lang="zh-CN" altLang="en-US" sz="2700" dirty="0"/>
          </a:p>
          <a:p>
            <a:pPr>
              <a:lnSpc>
                <a:spcPct val="80000"/>
              </a:lnSpc>
              <a:buNone/>
            </a:pPr>
            <a:endParaRPr lang="zh-CN" altLang="en-US" sz="2700" dirty="0"/>
          </a:p>
          <a:p>
            <a:pPr>
              <a:lnSpc>
                <a:spcPct val="80000"/>
              </a:lnSpc>
            </a:pPr>
            <a:r>
              <a:rPr lang="zh-CN" altLang="en-US" sz="2700" b="1" dirty="0"/>
              <a:t>交付：</a:t>
            </a:r>
            <a:endParaRPr lang="zh-CN" altLang="en-US" sz="2700" dirty="0"/>
          </a:p>
          <a:p>
            <a:pPr>
              <a:lnSpc>
                <a:spcPct val="80000"/>
              </a:lnSpc>
              <a:buNone/>
            </a:pPr>
            <a:r>
              <a:rPr lang="zh-CN" altLang="en-US" sz="2700" dirty="0"/>
              <a:t>   提交课题最终成果【需求分析、系统设计、用户手册、测试文档、程序代码、项目汇报</a:t>
            </a:r>
            <a:r>
              <a:rPr lang="en-US" altLang="zh-CN" sz="2700" dirty="0"/>
              <a:t>PPT</a:t>
            </a:r>
            <a:r>
              <a:rPr lang="zh-CN" altLang="en-US" sz="2700" dirty="0"/>
              <a:t>等】。</a:t>
            </a:r>
            <a:endParaRPr lang="zh-CN" altLang="en-US" sz="2700" dirty="0"/>
          </a:p>
          <a:p>
            <a:pPr>
              <a:lnSpc>
                <a:spcPct val="80000"/>
              </a:lnSpc>
              <a:buNone/>
            </a:pPr>
            <a:endParaRPr lang="zh-CN" altLang="en-US" sz="2700" dirty="0"/>
          </a:p>
          <a:p>
            <a:pPr>
              <a:lnSpc>
                <a:spcPct val="80000"/>
              </a:lnSpc>
            </a:pPr>
            <a:r>
              <a:rPr lang="zh-CN" altLang="en-US" sz="2700" b="1" dirty="0"/>
              <a:t>项目验收：</a:t>
            </a:r>
            <a:endParaRPr lang="zh-CN" altLang="en-US" sz="2700" dirty="0"/>
          </a:p>
          <a:p>
            <a:pPr>
              <a:lnSpc>
                <a:spcPct val="80000"/>
              </a:lnSpc>
              <a:buNone/>
            </a:pPr>
            <a:r>
              <a:rPr lang="zh-CN" altLang="en-US" sz="2700" dirty="0"/>
              <a:t>    老师对提交的课题最终成果进行验收测试，项目组根据测试用例自测，最后，</a:t>
            </a:r>
            <a:r>
              <a:rPr lang="zh-CN" altLang="en-US" sz="2700" dirty="0">
                <a:solidFill>
                  <a:srgbClr val="FF0000"/>
                </a:solidFill>
              </a:rPr>
              <a:t>打印测试文档，进行最终验收测试</a:t>
            </a:r>
            <a:r>
              <a:rPr lang="zh-CN" altLang="en-US" sz="2700" dirty="0"/>
              <a:t>。</a:t>
            </a:r>
            <a:endParaRPr lang="zh-CN" altLang="en-US" sz="2700" dirty="0"/>
          </a:p>
          <a:p>
            <a:pPr>
              <a:lnSpc>
                <a:spcPct val="80000"/>
              </a:lnSpc>
            </a:pPr>
            <a:endParaRPr lang="zh-CN" alt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01610" y="48260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课程设计要求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6" name="内容占位符 2"/>
          <p:cNvSpPr>
            <a:spLocks noGrp="1" noRot="1"/>
          </p:cNvSpPr>
          <p:nvPr>
            <p:ph idx="4294967295"/>
          </p:nvPr>
        </p:nvSpPr>
        <p:spPr>
          <a:xfrm>
            <a:off x="201295" y="1268730"/>
            <a:ext cx="8540750" cy="4914900"/>
          </a:xfrm>
        </p:spPr>
        <p:txBody>
          <a:bodyPr vert="horz" wrap="square" lIns="91440" tIns="45720" rIns="91440" bIns="45720" anchor="t" anchorCtr="0"/>
          <a:p>
            <a:r>
              <a:rPr lang="zh-CN" altLang="en-US" b="1" dirty="0"/>
              <a:t>项目管理：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包括项目实施过程中的任务分解和责任分工，项目实施的计划和进度的跟踪，项目的质量管理和控制，软件的配置管理和版本控制等。</a:t>
            </a:r>
            <a:endParaRPr lang="zh-CN" altLang="en-US" dirty="0"/>
          </a:p>
          <a:p>
            <a:r>
              <a:rPr lang="zh-CN" altLang="en-US" b="1" dirty="0"/>
              <a:t>课程设计成果提交：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课程设计报告要求提交电子版。（需求分析文档，设计文档，项目</a:t>
            </a:r>
            <a:r>
              <a:rPr lang="en-US" altLang="zh-CN"/>
              <a:t>PPT</a:t>
            </a:r>
            <a:r>
              <a:rPr lang="zh-CN" altLang="en-US"/>
              <a:t>介绍</a:t>
            </a:r>
            <a:r>
              <a:rPr lang="zh-CN" altLang="en-US" dirty="0"/>
              <a:t>，测试文档，运行程序和源代码，操作维护手册）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360" y="549590"/>
            <a:ext cx="8686800" cy="83820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课程设计考核方式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0" name="内容占位符 2"/>
          <p:cNvSpPr>
            <a:spLocks noGrp="1" noRot="1"/>
          </p:cNvSpPr>
          <p:nvPr>
            <p:ph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团队工作：</a:t>
            </a:r>
            <a:r>
              <a:rPr lang="en-US" altLang="zh-CN"/>
              <a:t>50%</a:t>
            </a:r>
            <a:r>
              <a:rPr lang="zh-CN" altLang="en-US"/>
              <a:t>（文档和测试）</a:t>
            </a:r>
            <a:endParaRPr lang="en-US" altLang="zh-CN"/>
          </a:p>
          <a:p>
            <a:r>
              <a:rPr lang="zh-CN" altLang="en-US" dirty="0"/>
              <a:t>个人工作：</a:t>
            </a:r>
            <a:r>
              <a:rPr lang="en-US" altLang="zh-CN"/>
              <a:t>20%</a:t>
            </a:r>
            <a:endParaRPr lang="en-US" altLang="zh-CN"/>
          </a:p>
          <a:p>
            <a:r>
              <a:rPr lang="zh-CN" altLang="en-US" dirty="0"/>
              <a:t>平时表现：</a:t>
            </a:r>
            <a:r>
              <a:rPr lang="en-US" altLang="zh-CN"/>
              <a:t>30%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内容占位符 2"/>
          <p:cNvSpPr>
            <a:spLocks noGrp="1" noRot="1"/>
          </p:cNvSpPr>
          <p:nvPr>
            <p:ph idx="4294967295"/>
          </p:nvPr>
        </p:nvSpPr>
        <p:spPr>
          <a:xfrm>
            <a:off x="323850" y="738188"/>
            <a:ext cx="8424863" cy="6119812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dirty="0"/>
              <a:t>第</a:t>
            </a:r>
            <a:r>
              <a:rPr lang="en-US" altLang="zh-CN" sz="2800"/>
              <a:t>1</a:t>
            </a:r>
            <a:r>
              <a:rPr lang="zh-CN" altLang="en-US" sz="2800" dirty="0"/>
              <a:t>周：</a:t>
            </a:r>
            <a:r>
              <a:rPr lang="en-US" altLang="zh-CN" sz="2800"/>
              <a:t>MS-project</a:t>
            </a:r>
            <a:r>
              <a:rPr lang="zh-CN" altLang="en-US" sz="2800" dirty="0"/>
              <a:t>学习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2</a:t>
            </a:r>
            <a:r>
              <a:rPr lang="zh-CN" altLang="en-US" sz="2800" dirty="0"/>
              <a:t>周：</a:t>
            </a:r>
            <a:r>
              <a:rPr lang="en-US" altLang="zh-CN" sz="2800"/>
              <a:t>UML </a:t>
            </a:r>
            <a:r>
              <a:rPr lang="en-US" altLang="zh-CN" sz="2800" err="1"/>
              <a:t>RationalRose</a:t>
            </a:r>
            <a:r>
              <a:rPr lang="zh-CN" altLang="en-US" sz="2800" dirty="0"/>
              <a:t>学习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3</a:t>
            </a:r>
            <a:r>
              <a:rPr lang="zh-CN" altLang="en-US" sz="2800" dirty="0"/>
              <a:t>周：项目需求分析，</a:t>
            </a:r>
            <a:r>
              <a:rPr lang="zh-CN" altLang="en-US" sz="2800" b="1" dirty="0">
                <a:solidFill>
                  <a:srgbClr val="FF0000"/>
                </a:solidFill>
              </a:rPr>
              <a:t>提交需求文档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4</a:t>
            </a:r>
            <a:r>
              <a:rPr lang="zh-CN" altLang="en-US" sz="2800" dirty="0"/>
              <a:t>周：系统设计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5</a:t>
            </a:r>
            <a:r>
              <a:rPr lang="zh-CN" altLang="en-US" sz="2800" dirty="0"/>
              <a:t>周：</a:t>
            </a:r>
            <a:r>
              <a:rPr lang="zh-CN" altLang="en-US" sz="2800" b="1" dirty="0">
                <a:solidFill>
                  <a:srgbClr val="FF0000"/>
                </a:solidFill>
              </a:rPr>
              <a:t>各组报告系统设计</a:t>
            </a:r>
            <a:r>
              <a:rPr lang="zh-CN" altLang="en-US" sz="2800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提交</a:t>
            </a:r>
            <a:r>
              <a:rPr lang="en-US" altLang="zh-CN" sz="2800" b="1" dirty="0">
                <a:solidFill>
                  <a:srgbClr val="FF0000"/>
                </a:solidFill>
              </a:rPr>
              <a:t>PPT</a:t>
            </a:r>
            <a:r>
              <a:rPr lang="zh-CN" altLang="en-US" sz="2800" b="1" dirty="0">
                <a:solidFill>
                  <a:srgbClr val="FF0000"/>
                </a:solidFill>
              </a:rPr>
              <a:t>，设计文档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6</a:t>
            </a:r>
            <a:r>
              <a:rPr lang="zh-CN" altLang="en-US" sz="2800" dirty="0"/>
              <a:t>周：编码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7</a:t>
            </a:r>
            <a:r>
              <a:rPr lang="zh-CN" altLang="en-US" sz="2800" dirty="0"/>
              <a:t>周：编码、测试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8</a:t>
            </a:r>
            <a:r>
              <a:rPr lang="zh-CN" altLang="en-US" sz="2800" dirty="0"/>
              <a:t>周：</a:t>
            </a:r>
            <a:r>
              <a:rPr lang="zh-CN" altLang="en-US" sz="2800" b="1" dirty="0">
                <a:solidFill>
                  <a:srgbClr val="FF0000"/>
                </a:solidFill>
              </a:rPr>
              <a:t>测试文档提交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9</a:t>
            </a:r>
            <a:r>
              <a:rPr lang="zh-CN" altLang="en-US" sz="2800" dirty="0"/>
              <a:t>周：完成所有文档，各组演示系统，评价验收</a:t>
            </a:r>
            <a:endParaRPr lang="zh-CN" altLang="en-US" sz="2800" dirty="0"/>
          </a:p>
          <a:p>
            <a:r>
              <a:rPr lang="zh-CN" altLang="en-US" sz="2800" dirty="0"/>
              <a:t>第</a:t>
            </a:r>
            <a:r>
              <a:rPr lang="en-US" altLang="zh-CN" sz="2800"/>
              <a:t>10</a:t>
            </a:r>
            <a:r>
              <a:rPr lang="zh-CN" altLang="en-US" sz="2800" dirty="0"/>
              <a:t>周：完成所有文档，各组演示系统，评价验收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13314" name="Rectangle 4"/>
          <p:cNvSpPr>
            <a:spLocks noRot="1"/>
          </p:cNvSpPr>
          <p:nvPr/>
        </p:nvSpPr>
        <p:spPr>
          <a:xfrm>
            <a:off x="3995738" y="0"/>
            <a:ext cx="1752600" cy="538163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t" anchorCtr="0">
            <a:spAutoFit/>
          </a:bodyPr>
          <a:p>
            <a:pPr eaLnBrk="0" hangingPunct="0"/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时间安排</a:t>
            </a:r>
            <a:endParaRPr lang="zh-CN" altLang="en-US" sz="3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スライド番号プレースホルダ 4"/>
          <p:cNvSpPr txBox="1">
            <a:spLocks noGrp="1"/>
          </p:cNvSpPr>
          <p:nvPr/>
        </p:nvSpPr>
        <p:spPr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0" hangingPunct="0"/>
            <a:fld id="{9A0DB2DC-4C9A-4742-B13C-FB6460FD3503}" type="slidenum">
              <a:rPr lang="en-US" altLang="ja-JP" sz="12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en-US" altLang="ja-JP" sz="12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8" name="Rectangle 17"/>
          <p:cNvSpPr/>
          <p:nvPr/>
        </p:nvSpPr>
        <p:spPr>
          <a:xfrm>
            <a:off x="174625" y="765175"/>
            <a:ext cx="8718550" cy="4054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742950" lvl="1" indent="-285750" eaLnBrk="0" hangingPunct="0"/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</a:rPr>
              <a:t>1.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lang="zh-CN" altLang="en-US" sz="20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marL="742950" lvl="1" indent="-285750" eaLnBrk="0" hangingPunct="0"/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目的，市场情况（相关产品分析），用户类型和特征、操作环境、设计和实现约束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</a:rPr>
              <a:t>2.</a:t>
            </a:r>
            <a:r>
              <a:rPr lang="zh-CN" altLang="en-US" sz="2000" b="1" dirty="0">
                <a:latin typeface="Arial" panose="020B0604020202020204" pitchFamily="34" charset="0"/>
                <a:ea typeface="MS PGothic" panose="020B0600070205080204" pitchFamily="34" charset="-128"/>
              </a:rPr>
              <a:t>系统主要功能</a:t>
            </a:r>
            <a:endParaRPr lang="zh-CN" altLang="en-US" sz="2000" b="1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r>
              <a:rPr lang="zh-CN" altLang="en-US" sz="2000" b="1" dirty="0">
                <a:latin typeface="Arial" panose="020B0604020202020204" pitchFamily="34" charset="0"/>
                <a:ea typeface="MS PGothic" panose="020B0600070205080204" pitchFamily="34" charset="-128"/>
              </a:rPr>
              <a:t>     主要功能及要求</a:t>
            </a:r>
            <a:endParaRPr lang="zh-CN" altLang="en-US" sz="2000" b="1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</a:rPr>
              <a:t>3. </a:t>
            </a:r>
            <a:r>
              <a:rPr lang="zh-CN" altLang="en-US" sz="2000" dirty="0">
                <a:latin typeface="Arial" panose="020B0604020202020204" pitchFamily="34" charset="0"/>
                <a:ea typeface="MS PGothic" panose="020B0600070205080204" pitchFamily="34" charset="-128"/>
              </a:rPr>
              <a:t>其他需求</a:t>
            </a:r>
            <a:endParaRPr lang="zh-CN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endParaRPr lang="zh-CN" altLang="en-US" sz="20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r>
              <a:rPr lang="zh-CN" altLang="en-US" sz="2000" dirty="0">
                <a:latin typeface="Arial" panose="020B0604020202020204" pitchFamily="34" charset="0"/>
                <a:ea typeface="MS PGothic" panose="020B0600070205080204" pitchFamily="34" charset="-128"/>
              </a:rPr>
              <a:t>重点在第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MS PGothic" panose="020B0600070205080204" pitchFamily="34" charset="-128"/>
              </a:rPr>
              <a:t>部分。可以用文字进行需求功能描述，同时要使用建模工具，对需求进行形式化描述，包括使用部署图、用例图、活动图、状态图、顺序图、类图等</a:t>
            </a:r>
            <a:endParaRPr lang="zh-CN" altLang="en-US" sz="20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endParaRPr lang="zh-CN" altLang="en-US" sz="20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r>
              <a:rPr lang="zh-CN" altLang="en-US" sz="2000" dirty="0">
                <a:latin typeface="Arial" panose="020B0604020202020204" pitchFamily="34" charset="0"/>
                <a:ea typeface="MS PGothic" panose="020B0600070205080204" pitchFamily="34" charset="-128"/>
              </a:rPr>
              <a:t>必须要有数据（数据库）属性定义及限制条件的描述</a:t>
            </a:r>
            <a:endParaRPr lang="zh-CN" altLang="en-US" sz="20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0" hangingPunct="0"/>
            <a:endParaRPr lang="zh-CN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9" name="Rectangle 4"/>
          <p:cNvSpPr>
            <a:spLocks noRot="1"/>
          </p:cNvSpPr>
          <p:nvPr/>
        </p:nvSpPr>
        <p:spPr>
          <a:xfrm>
            <a:off x="323850" y="260350"/>
            <a:ext cx="3595688" cy="538163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t" anchorCtr="0">
            <a:spAutoFit/>
          </a:bodyPr>
          <a:p>
            <a:pPr eaLnBrk="0" hangingPunct="0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课程设计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需求分析</a:t>
            </a:r>
            <a:endParaRPr lang="en-US" altLang="ja-JP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フッター プレースホルダ 3"/>
          <p:cNvSpPr txBox="1">
            <a:spLocks noGrp="1"/>
          </p:cNvSpPr>
          <p:nvPr/>
        </p:nvSpPr>
        <p:spPr>
          <a:xfrm>
            <a:off x="0" y="6477000"/>
            <a:ext cx="40386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0" hangingPunct="0"/>
            <a:r>
              <a:rPr lang="ja-JP" altLang="en-US" sz="900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© 20</a:t>
            </a:r>
            <a:r>
              <a:rPr lang="en-US" altLang="ja-JP" sz="9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 Sichuan University All rights reserved.  |  Confidential</a:t>
            </a:r>
            <a:endParaRPr lang="en-US" altLang="ja-JP" sz="9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6" name="スライド番号プレースホルダ 4"/>
          <p:cNvSpPr txBox="1">
            <a:spLocks noGrp="1"/>
          </p:cNvSpPr>
          <p:nvPr/>
        </p:nvSpPr>
        <p:spPr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0" hangingPunct="0"/>
            <a:fld id="{9A0DB2DC-4C9A-4742-B13C-FB6460FD3503}" type="slidenum">
              <a:rPr lang="en-US" altLang="ja-JP" sz="12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en-US" altLang="ja-JP" sz="12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7" name="Rectangle 51"/>
          <p:cNvSpPr>
            <a:spLocks noRot="1"/>
          </p:cNvSpPr>
          <p:nvPr/>
        </p:nvSpPr>
        <p:spPr>
          <a:xfrm>
            <a:off x="0" y="152400"/>
            <a:ext cx="2574925" cy="538163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t" anchorCtr="0">
            <a:spAutoFit/>
          </a:bodyPr>
          <a:p>
            <a:pPr eaLnBrk="0" hangingPunct="0"/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设计文档模版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9636" name="Rectangle 52"/>
          <p:cNvSpPr>
            <a:spLocks noChangeArrowheads="1"/>
          </p:cNvSpPr>
          <p:nvPr/>
        </p:nvSpPr>
        <p:spPr bwMode="auto">
          <a:xfrm>
            <a:off x="0" y="728663"/>
            <a:ext cx="5003800" cy="497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一． 引言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编写目的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定义：在该概要设计说明书中的专门术语有：</a:t>
            </a:r>
            <a:r>
              <a:rPr lang="en-US" altLang="zh-CN" sz="2000" strike="noStrike" noProof="1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XXX </a:t>
            </a:r>
            <a:endParaRPr lang="en-US" altLang="zh-CN" sz="2000" strike="noStrike" noProof="1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参考资料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二． 任务概述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系统功能概述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运行环境：</a:t>
            </a: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Win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2000" strike="noStrike" noProof="1" err="1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iOS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 </a:t>
            </a: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Android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开发工具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条件与限制</a:t>
            </a: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可以省略</a:t>
            </a:r>
            <a:r>
              <a:rPr lang="en-US" altLang="zh-CN" sz="2000" strike="noStrike" noProof="1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lang="en-US" altLang="zh-CN" sz="2000" strike="noStrike" noProof="1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eaLnBrk="0" fontAlgn="base" hangingPunct="0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三． 总体设计</a:t>
            </a:r>
            <a:endParaRPr lang="zh-CN" altLang="en-US" sz="2000" strike="noStrike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．总体架构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系统的总体结构图等；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．系统主要功能和模块设计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部署图，各模块功能描述，程序、算法流程（包括协作图、类图等）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eaLnBrk="0" fontAlgn="base" hangingPunct="0">
              <a:buClr>
                <a:schemeClr val="folHlink"/>
              </a:buClr>
              <a:buFont typeface="Wingdings" panose="05000000000000000000" pitchFamily="2" charset="2"/>
            </a:pPr>
            <a:endParaRPr lang="zh-CN" altLang="en-US" sz="2000" strike="noStrike" noProof="1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" name="Rectangle 52"/>
          <p:cNvSpPr>
            <a:spLocks noChangeArrowheads="1"/>
          </p:cNvSpPr>
          <p:nvPr/>
        </p:nvSpPr>
        <p:spPr bwMode="auto">
          <a:xfrm>
            <a:off x="5256213" y="728663"/>
            <a:ext cx="388778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四． 数据设计</a:t>
            </a:r>
            <a:endParaRPr lang="zh-CN" altLang="en-US" sz="2000" strike="noStrike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数据结构（数据表、数据库）设计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OO-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类的设计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物理结构设计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数据结构与程序的关系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五． 接口设计（</a:t>
            </a:r>
            <a:r>
              <a:rPr lang="zh-CN" altLang="en-US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用户界面</a:t>
            </a:r>
            <a:r>
              <a:rPr lang="zh-CN" altLang="en-US" sz="2000" strike="noStrike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endParaRPr lang="zh-CN" altLang="en-US" sz="2000" strike="noStrike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</a:pP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六． 其它</a:t>
            </a:r>
            <a:r>
              <a:rPr lang="zh-CN" altLang="en-US" sz="2000" strike="noStrike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（可以省略）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运行设计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出错处理设计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安全保密设计</a:t>
            </a:r>
            <a:endParaRPr lang="zh-CN" altLang="en-US" sz="20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742950" lvl="1" indent="-285750" eaLnBrk="0" fontAlgn="base" hangingPunct="0"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en-US" altLang="zh-CN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4.</a:t>
            </a:r>
            <a:r>
              <a:rPr lang="zh-CN" altLang="en-US" sz="20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维护设计</a:t>
            </a:r>
            <a:endParaRPr lang="zh-CN" altLang="en-US" sz="2000" strike="noStrike" noProof="1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フッター プレースホルダ 3"/>
          <p:cNvSpPr txBox="1">
            <a:spLocks noGrp="1"/>
          </p:cNvSpPr>
          <p:nvPr/>
        </p:nvSpPr>
        <p:spPr>
          <a:xfrm>
            <a:off x="0" y="6477000"/>
            <a:ext cx="40386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0" hangingPunct="0"/>
            <a:r>
              <a:rPr lang="ja-JP" altLang="en-US" sz="900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© 20</a:t>
            </a:r>
            <a:r>
              <a:rPr lang="en-US" altLang="ja-JP" sz="9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 Sichuan University All rights reserved.  |  Confidential</a:t>
            </a:r>
            <a:endParaRPr lang="en-US" altLang="ja-JP" sz="9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6" name="スライド番号プレースホルダ 4"/>
          <p:cNvSpPr txBox="1">
            <a:spLocks noGrp="1"/>
          </p:cNvSpPr>
          <p:nvPr/>
        </p:nvSpPr>
        <p:spPr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0" hangingPunct="0"/>
            <a:fld id="{9A0DB2DC-4C9A-4742-B13C-FB6460FD3503}" type="slidenum">
              <a:rPr lang="en-US" altLang="ja-JP" sz="12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en-US" altLang="ja-JP" sz="12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7" name="Rectangle 51"/>
          <p:cNvSpPr>
            <a:spLocks noRot="1"/>
          </p:cNvSpPr>
          <p:nvPr/>
        </p:nvSpPr>
        <p:spPr>
          <a:xfrm>
            <a:off x="3635375" y="-27305"/>
            <a:ext cx="2168525" cy="542925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t" anchorCtr="0">
            <a:spAutoFit/>
          </a:bodyPr>
          <a:p>
            <a:pPr eaLnBrk="0" hangingPunct="0"/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项目推荐：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9636" name="Rectangle 52"/>
          <p:cNvSpPr>
            <a:spLocks noChangeArrowheads="1"/>
          </p:cNvSpPr>
          <p:nvPr/>
        </p:nvSpPr>
        <p:spPr bwMode="auto">
          <a:xfrm>
            <a:off x="611505" y="836930"/>
            <a:ext cx="8428355" cy="436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p>
            <a:pPr marL="514350" indent="-514350" algn="l" eaLnBrk="0" fontAlgn="base" hangingPunct="0">
              <a:buClr>
                <a:schemeClr val="folHlink"/>
              </a:buClr>
              <a:buSzTx/>
              <a:buFont typeface="+mj-lt"/>
              <a:buAutoNum type="arabicPeriod"/>
            </a:pPr>
            <a:r>
              <a:rPr lang="zh-CN" altLang="en-US" sz="2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统一认证登录</a:t>
            </a:r>
            <a:endParaRPr lang="zh-CN" altLang="en-US" sz="2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14350" indent="-514350" eaLnBrk="0" fontAlgn="base" hangingPunct="0"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统一认证登录项目为多业务系统构建集中身份认证与单点登录能力，实现一套账号跨多个业务平台一次登录、免重复鉴权。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eaLnBrk="0" fontAlgn="base" hangingPunct="0">
              <a:buClr>
                <a:schemeClr val="folHlink"/>
              </a:buClr>
              <a:buFont typeface="+mj-lt"/>
            </a:pP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2.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节能监察数据导入</a:t>
            </a:r>
            <a:endParaRPr lang="zh-CN" altLang="en-US" sz="2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工厂数据导入</a:t>
            </a:r>
            <a:endParaRPr lang="zh-CN" altLang="en-US" sz="1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专项监察任务数据导入</a:t>
            </a:r>
            <a:endParaRPr lang="zh-CN" altLang="en-US" sz="1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3.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节能监察数据查询与统计</a:t>
            </a:r>
            <a:endParaRPr lang="zh-CN" altLang="en-US" sz="2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查询功能（按任务、地区、年份、工厂名等）</a:t>
            </a:r>
            <a:endParaRPr lang="zh-CN" altLang="en-US" sz="1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按重点工业企业、绿色工厂/园区、公共机构、数据中心、技改项目、问题整改企业六大主体分类建档统计</a:t>
            </a:r>
            <a:endParaRPr lang="zh-CN" altLang="en-US" sz="1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实现节能监察智能分析、精准预警、自动核算</a:t>
            </a:r>
            <a:endParaRPr lang="zh-CN" altLang="en-US" sz="1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endParaRPr lang="en-US" altLang="zh-CN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フッター プレースホルダ 3"/>
          <p:cNvSpPr txBox="1">
            <a:spLocks noGrp="1"/>
          </p:cNvSpPr>
          <p:nvPr/>
        </p:nvSpPr>
        <p:spPr>
          <a:xfrm>
            <a:off x="0" y="6477000"/>
            <a:ext cx="40386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0" hangingPunct="0"/>
            <a:r>
              <a:rPr lang="ja-JP" altLang="en-US" sz="900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© 20</a:t>
            </a:r>
            <a:r>
              <a:rPr lang="en-US" altLang="ja-JP" sz="9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 Sichuan University All rights reserved.  |  Confidential</a:t>
            </a:r>
            <a:endParaRPr lang="en-US" altLang="ja-JP" sz="9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6" name="スライド番号プレースホルダ 4"/>
          <p:cNvSpPr txBox="1">
            <a:spLocks noGrp="1"/>
          </p:cNvSpPr>
          <p:nvPr/>
        </p:nvSpPr>
        <p:spPr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0" hangingPunct="0"/>
            <a:fld id="{9A0DB2DC-4C9A-4742-B13C-FB6460FD3503}" type="slidenum">
              <a:rPr lang="en-US" altLang="ja-JP" sz="12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en-US" altLang="ja-JP" sz="120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7" name="Rectangle 51"/>
          <p:cNvSpPr>
            <a:spLocks noRot="1"/>
          </p:cNvSpPr>
          <p:nvPr/>
        </p:nvSpPr>
        <p:spPr>
          <a:xfrm>
            <a:off x="3635375" y="-27305"/>
            <a:ext cx="2168525" cy="542925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t" anchorCtr="0">
            <a:spAutoFit/>
          </a:bodyPr>
          <a:p>
            <a:pPr eaLnBrk="0" hangingPunct="0"/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项目推荐：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9636" name="Rectangle 52"/>
          <p:cNvSpPr>
            <a:spLocks noChangeArrowheads="1"/>
          </p:cNvSpPr>
          <p:nvPr/>
        </p:nvSpPr>
        <p:spPr bwMode="auto">
          <a:xfrm>
            <a:off x="395605" y="1016000"/>
            <a:ext cx="8428355" cy="564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r>
              <a:rPr lang="en-US" altLang="zh-CN" sz="2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4.PDF</a:t>
            </a:r>
            <a:r>
              <a:rPr lang="zh-CN" altLang="en-US" sz="2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文件显示与管理</a:t>
            </a:r>
            <a:endParaRPr lang="zh-CN" altLang="en-US" sz="2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PDF文件内容识别（包括图片OCR或文字识别）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PDF文件分类管理，内容显示（放大、缩小、翻页等）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5.多媒体播放器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（安卓端、</a:t>
            </a: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Windows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端）</a:t>
            </a:r>
            <a:endParaRPr lang="en-US" altLang="zh-CN" sz="2800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文字播放、图片播放、视频播放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长图滚动播放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自动播放（节目内容编排）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r>
              <a:rPr lang="en-US" altLang="zh-CN" sz="2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6.党建AI智能问答系统</a:t>
            </a:r>
            <a:endParaRPr lang="en-US" altLang="zh-CN" sz="2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基于千问或</a:t>
            </a:r>
            <a:r>
              <a:rPr lang="en-US" altLang="zh-CN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deepseek</a:t>
            </a: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等大预言模型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285750" indent="-285750"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1800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党建知识库建立，支持文字提问</a:t>
            </a:r>
            <a:endParaRPr lang="zh-CN" altLang="en-US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algn="l" eaLnBrk="0" fontAlgn="base" hangingPunct="0">
              <a:buClr>
                <a:schemeClr val="folHlink"/>
              </a:buClr>
              <a:buSzTx/>
              <a:buFont typeface="Arial" panose="020B0604020202020204" pitchFamily="34" charset="0"/>
            </a:pPr>
            <a:endParaRPr lang="en-US" altLang="zh-CN" sz="1800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4ef95a5-b511-46d7-a9f9-953d4913a954"/>
  <p:tag name="COMMONDATA" val="eyJoZGlkIjoiOTE2MmEwMDRkZDBiZWM1NTkyYjAyNzc2YTJlMzcwZGUifQ=="/>
</p:tagLst>
</file>

<file path=ppt/theme/theme1.xml><?xml version="1.0" encoding="utf-8"?>
<a:theme xmlns:a="http://schemas.openxmlformats.org/drawingml/2006/main" name="诗情画意">
  <a:themeElements>
    <a:clrScheme name="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866"/>
      </a:accent4>
      <a:accent5>
        <a:srgbClr val="F3FAFF"/>
      </a:accent5>
      <a:accent6>
        <a:srgbClr val="2D5BE5"/>
      </a:accent6>
      <a:hlink>
        <a:srgbClr val="DC5900"/>
      </a:hlink>
      <a:folHlink>
        <a:srgbClr val="7979A5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866"/>
        </a:accent4>
        <a:accent5>
          <a:srgbClr val="F3FAFF"/>
        </a:accent5>
        <a:accent6>
          <a:srgbClr val="2D5BE5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1A3"/>
        </a:accent4>
        <a:accent5>
          <a:srgbClr val="F2FAFF"/>
        </a:accent5>
        <a:accent6>
          <a:srgbClr val="DE84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9F2EB"/>
        </a:accent3>
        <a:accent4>
          <a:srgbClr val="4F4F77"/>
        </a:accent4>
        <a:accent5>
          <a:srgbClr val="FFFFEB"/>
        </a:accent5>
        <a:accent6>
          <a:srgbClr val="2D89E5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757"/>
        </a:accent4>
        <a:accent5>
          <a:srgbClr val="FFFFE2"/>
        </a:accent5>
        <a:accent6>
          <a:srgbClr val="E55B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F"/>
        </a:accent4>
        <a:accent5>
          <a:srgbClr val="E6EFEA"/>
        </a:accent5>
        <a:accent6>
          <a:srgbClr val="2D5BE5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783"/>
        </a:accent4>
        <a:accent5>
          <a:srgbClr val="EFEFEF"/>
        </a:accent5>
        <a:accent6>
          <a:srgbClr val="2D89E5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EFEFFF"/>
        </a:accent3>
        <a:accent4>
          <a:srgbClr val="AF2A00"/>
        </a:accent4>
        <a:accent5>
          <a:srgbClr val="F0EFF4"/>
        </a:accent5>
        <a:accent6>
          <a:srgbClr val="005BB7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E"/>
        </a:accent3>
        <a:accent4>
          <a:srgbClr val="000083"/>
        </a:accent4>
        <a:accent5>
          <a:srgbClr val="F2F2F2"/>
        </a:accent5>
        <a:accent6>
          <a:srgbClr val="9F62A1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诗情画意">
  <a:themeElements>
    <a:clrScheme name="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866"/>
      </a:accent4>
      <a:accent5>
        <a:srgbClr val="F3FAFF"/>
      </a:accent5>
      <a:accent6>
        <a:srgbClr val="2D5BE5"/>
      </a:accent6>
      <a:hlink>
        <a:srgbClr val="DC5900"/>
      </a:hlink>
      <a:folHlink>
        <a:srgbClr val="7979A5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866"/>
        </a:accent4>
        <a:accent5>
          <a:srgbClr val="F3FAFF"/>
        </a:accent5>
        <a:accent6>
          <a:srgbClr val="2D5BE5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1A3"/>
        </a:accent4>
        <a:accent5>
          <a:srgbClr val="F2FAFF"/>
        </a:accent5>
        <a:accent6>
          <a:srgbClr val="DE84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9F2EB"/>
        </a:accent3>
        <a:accent4>
          <a:srgbClr val="4F4F77"/>
        </a:accent4>
        <a:accent5>
          <a:srgbClr val="FFFFEB"/>
        </a:accent5>
        <a:accent6>
          <a:srgbClr val="2D89E5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757"/>
        </a:accent4>
        <a:accent5>
          <a:srgbClr val="FFFFE2"/>
        </a:accent5>
        <a:accent6>
          <a:srgbClr val="E55B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F"/>
        </a:accent4>
        <a:accent5>
          <a:srgbClr val="E6EFEA"/>
        </a:accent5>
        <a:accent6>
          <a:srgbClr val="2D5BE5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783"/>
        </a:accent4>
        <a:accent5>
          <a:srgbClr val="EFEFEF"/>
        </a:accent5>
        <a:accent6>
          <a:srgbClr val="2D89E5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EFEFFF"/>
        </a:accent3>
        <a:accent4>
          <a:srgbClr val="AF2A00"/>
        </a:accent4>
        <a:accent5>
          <a:srgbClr val="F0EFF4"/>
        </a:accent5>
        <a:accent6>
          <a:srgbClr val="005BB7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E"/>
        </a:accent3>
        <a:accent4>
          <a:srgbClr val="000083"/>
        </a:accent4>
        <a:accent5>
          <a:srgbClr val="F2F2F2"/>
        </a:accent5>
        <a:accent6>
          <a:srgbClr val="9F62A1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0</TotalTime>
  <Words>2236</Words>
  <Application>WPS 演示</Application>
  <PresentationFormat>在屏幕上显示</PresentationFormat>
  <Paragraphs>177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MS PGothic</vt:lpstr>
      <vt:lpstr>微软雅黑</vt:lpstr>
      <vt:lpstr>Arial Unicode MS</vt:lpstr>
      <vt:lpstr>诗情画意</vt:lpstr>
      <vt:lpstr>1_诗情画意</vt:lpstr>
      <vt:lpstr>软件工程课程设计</vt:lpstr>
      <vt:lpstr>课程目的</vt:lpstr>
      <vt:lpstr>课程教学方式</vt:lpstr>
      <vt:lpstr>课程设计要求</vt:lpstr>
      <vt:lpstr>课程设计要求</vt:lpstr>
      <vt:lpstr>课程设计要求</vt:lpstr>
      <vt:lpstr>课程设计要求</vt:lpstr>
      <vt:lpstr>课程设计要求</vt:lpstr>
      <vt:lpstr>课程设计考核方式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玉石头 </cp:lastModifiedBy>
  <cp:revision>16</cp:revision>
  <dcterms:created xsi:type="dcterms:W3CDTF">2013-10-07T15:54:00Z</dcterms:created>
  <dcterms:modified xsi:type="dcterms:W3CDTF">2026-10-04T09:04:43Z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248DF9A1EE1A4644A3B9DE43D755D1E6_12</vt:lpwstr>
  </property>
</Properties>
</file>